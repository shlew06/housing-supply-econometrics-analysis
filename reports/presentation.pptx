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18DE503-1DA2-4200-8D79-79EA9CA4AF86}">
  <a:tblStyle styleId="{318DE503-1DA2-4200-8D79-79EA9CA4AF8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d8b506bf50_0_54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g3d8b506bf50_0_54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d8b506bf50_0_54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8b506bf50_0_56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d8b506bf50_0_566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d8b506bf50_0_56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8b506bf50_0_57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d8b506bf50_0_57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d8b506bf50_0_57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8b506bf50_0_59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d8b506bf50_0_59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d8b506bf50_0_59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8b506bf50_0_60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d8b506bf50_0_60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d8b506bf50_0_60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8b506bf50_0_62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d8b506bf50_0_62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d8b506bf50_0_62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8b506bf50_0_63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d8b506bf50_0_63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d8b506bf50_0_63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8b506bf50_0_64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d8b506bf50_0_64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d8b506bf50_0_64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8b506bf50_0_65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d8b506bf50_0_651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variables that we’ve chosen to use in our regression include permits, </a:t>
            </a:r>
            <a:r>
              <a:rPr lang="en"/>
              <a:t>income</a:t>
            </a:r>
            <a:r>
              <a:rPr lang="en"/>
              <a:t>, population, dummy and years. We’ve chosen to log the permits, </a:t>
            </a:r>
            <a:r>
              <a:rPr lang="en"/>
              <a:t>income</a:t>
            </a:r>
            <a:r>
              <a:rPr lang="en"/>
              <a:t> and population to reduce the non-linearity of the variables. According to our data, the TKTK explain slide. </a:t>
            </a:r>
            <a:endParaRPr/>
          </a:p>
        </p:txBody>
      </p:sp>
      <p:sp>
        <p:nvSpPr>
          <p:cNvPr id="157" name="Google Shape;157;g3d8b506bf50_0_651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8b506bf50_0_67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d8b506bf50_0_67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of the variables that we chose to </a:t>
            </a:r>
            <a:r>
              <a:rPr lang="en"/>
              <a:t>omit</a:t>
            </a:r>
            <a:r>
              <a:rPr lang="en"/>
              <a:t> include. We largely chose to not include these because </a:t>
            </a:r>
            <a:r>
              <a:rPr lang="en"/>
              <a:t>the acquiring data to depict these variables is very hard like for zoning laws or buildable-land share. We chose not to include mortgage rates because a lot of the variance in that variable is absorbed by the year dummy variable. </a:t>
            </a:r>
            <a:endParaRPr/>
          </a:p>
        </p:txBody>
      </p:sp>
      <p:sp>
        <p:nvSpPr>
          <p:cNvPr id="184" name="Google Shape;184;g3d8b506bf50_0_67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8b506bf50_0_68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d8b506bf50_0_68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d8b506bf50_0_68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8b506bf50_0_69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d8b506bf50_0_696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d8b506bf50_0_69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8b506bf50_0_73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d8b506bf50_0_73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d8b506bf50_0_73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8b506bf50_0_74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d8b506bf50_0_74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d8b506bf50_0_74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8b506bf50_0_71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3d8b506bf50_0_71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d8b506bf50_0_71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8b506bf50_0_72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3d8b506bf50_0_72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d8b506bf50_0_72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d8b506bf50_0_73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3d8b506bf50_0_73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d8b506bf50_0_73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d8b506bf50_0_76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g3d8b506bf50_0_761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d8b506bf50_0_761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d8b506bf50_0_76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3d8b506bf50_0_76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d8b506bf50_0_76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d8b506bf50_0_78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3d8b506bf50_0_78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d8b506bf50_0_78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/>
          <p:nvPr/>
        </p:nvSpPr>
        <p:spPr>
          <a:xfrm>
            <a:off x="548640" y="1097280"/>
            <a:ext cx="80466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400"/>
              <a:buFont typeface="Calibri"/>
              <a:buNone/>
            </a:pPr>
            <a:r>
              <a:rPr b="1" i="0" lang="en" sz="4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Does Housing Supply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548640" y="1817370"/>
            <a:ext cx="80466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4400"/>
              <a:buFont typeface="Calibri"/>
              <a:buNone/>
            </a:pPr>
            <a:r>
              <a:rPr b="1" i="0" lang="en" sz="44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Constrain Home Prices?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6743471" y="1028700"/>
            <a:ext cx="1851900" cy="82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/>
          <p:nvPr/>
        </p:nvSpPr>
        <p:spPr>
          <a:xfrm>
            <a:off x="6743471" y="1234440"/>
            <a:ext cx="1371600" cy="549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6743471" y="1405890"/>
            <a:ext cx="960000" cy="34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548640" y="2880360"/>
            <a:ext cx="342900" cy="27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548640" y="298323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Evidence from 5</a:t>
            </a:r>
            <a:r>
              <a:rPr lang="en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r>
              <a:rPr b="0" i="0" lang="en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U.S. metros, 20</a:t>
            </a:r>
            <a:r>
              <a:rPr lang="en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19 - </a:t>
            </a:r>
            <a:r>
              <a:rPr b="0" i="0" lang="en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2024.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548640" y="3771900"/>
            <a:ext cx="342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Group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548664" y="4046225"/>
            <a:ext cx="5651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Tessa Butler, Siya Kumar, Naman Keswani, Ania Ting, &amp; Shunji Lewandowski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>
            <a:off x="548640" y="411480"/>
            <a:ext cx="4114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Section 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548640" y="788670"/>
            <a:ext cx="80466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500"/>
              <a:buFont typeface="Calibri"/>
              <a:buNone/>
            </a:pPr>
            <a:r>
              <a:rPr b="1" i="0" lang="en" sz="4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548640" y="1474470"/>
            <a:ext cx="80466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4500"/>
              <a:buFont typeface="Calibri"/>
              <a:buNone/>
            </a:pPr>
            <a:r>
              <a:rPr b="1" i="0" lang="en" sz="45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and Motivation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548640" y="2503170"/>
            <a:ext cx="342900" cy="27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548640" y="2606040"/>
            <a:ext cx="4114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Tessa Butler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6949211" y="685800"/>
            <a:ext cx="1645800" cy="1645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7497851" y="2057400"/>
            <a:ext cx="1097400" cy="1097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6949211" y="891540"/>
            <a:ext cx="1645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2000"/>
              <a:buFont typeface="Calibri"/>
              <a:buNone/>
            </a:pPr>
            <a:r>
              <a:rPr b="1" i="0" lang="en" sz="120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/>
          <p:nvPr/>
        </p:nvSpPr>
        <p:spPr>
          <a:xfrm>
            <a:off x="411480" y="342900"/>
            <a:ext cx="83208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411480" y="994410"/>
            <a:ext cx="342900" cy="27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582930" y="1371600"/>
            <a:ext cx="50064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7650" lvl="0" marL="2540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Our main research question: We plan to see if the supply-demand theory applies to housing supply and home prices by determining whether regions with lower housing supply experience higher home prices. </a:t>
            </a:r>
            <a:endParaRPr sz="11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Why is this important? This research is essential to understanding housing supply and demand, which in turn can help populations develope more affordable and sustainable housing options.</a:t>
            </a:r>
            <a:endParaRPr sz="11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Housing is the single biggest line item in most American budgets.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Homelessness hit a record high in 2024 and the country is short an estimated four million homes.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If building more homes lowers prices, permit reform is a direct policy</a:t>
            </a:r>
            <a:r>
              <a:rPr lang="en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implication.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5829300" y="1371600"/>
            <a:ext cx="1440300" cy="16629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5966460" y="1508760"/>
            <a:ext cx="11661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771K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5966460" y="2369439"/>
            <a:ext cx="11661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People homeless in 2024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7406640" y="1371600"/>
            <a:ext cx="1440300" cy="16629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7543800" y="1508760"/>
            <a:ext cx="11661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4M+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7543800" y="2369439"/>
            <a:ext cx="11661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National housing shortfall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5829300" y="3171825"/>
            <a:ext cx="1440300" cy="16629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5966460" y="3308985"/>
            <a:ext cx="11661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22M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5966460" y="4169664"/>
            <a:ext cx="11661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Cost-burdened renters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7406640" y="3171825"/>
            <a:ext cx="1440300" cy="16629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7543800" y="3308985"/>
            <a:ext cx="11661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90%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7543800" y="4169664"/>
            <a:ext cx="11661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Metros where prices beat wages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/>
          <p:nvPr/>
        </p:nvSpPr>
        <p:spPr>
          <a:xfrm>
            <a:off x="411480" y="342900"/>
            <a:ext cx="83208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Prior Research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411480" y="994410"/>
            <a:ext cx="342900" cy="27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/>
          <p:nvPr/>
        </p:nvSpPr>
        <p:spPr>
          <a:xfrm>
            <a:off x="582930" y="1440180"/>
            <a:ext cx="79779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4000" lvl="0" marL="2540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Glaeser–Gyourko–Saks (2005) and Saiz (2010) found that supply-tight metros had higher, more volatile prices.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Wooldridge warned that regressing prices on quantities flips sign when both respond to the same demand shock.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Prior work was mostly cross-sectional or city-level — our contribution was a multi-year panel of every U.S. metro.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/>
          <p:nvPr/>
        </p:nvSpPr>
        <p:spPr>
          <a:xfrm>
            <a:off x="411480" y="342900"/>
            <a:ext cx="83208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Research Question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411480" y="994410"/>
            <a:ext cx="342900" cy="27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582930" y="1440180"/>
            <a:ext cx="48006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4000" lvl="0" marL="2540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Did metros that issued more building permits see lower home prices, with income and population held fixed?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Standard supply-and-demand theory predicted a negative sign on permits.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We tested this across 5</a:t>
            </a:r>
            <a:r>
              <a:rPr lang="en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30 </a:t>
            </a:r>
            <a:r>
              <a:rPr b="0" i="0" lang="en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metros and </a:t>
            </a:r>
            <a:r>
              <a:rPr lang="en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years.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5966460" y="1440180"/>
            <a:ext cx="2880600" cy="3429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6103620" y="1577340"/>
            <a:ext cx="2606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6103620" y="1851660"/>
            <a:ext cx="2606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log(HPI) = β₀ + β₁·log(Permits) + ε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6103620" y="2434590"/>
            <a:ext cx="2606100" cy="13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6103620" y="2537460"/>
            <a:ext cx="2606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Hypotheses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6103620" y="2811780"/>
            <a:ext cx="26061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H₀:  β₁ = 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6103620" y="3120390"/>
            <a:ext cx="26061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H₁:  β₁ &lt; 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6103620" y="3566160"/>
            <a:ext cx="2606100" cy="13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8"/>
          <p:cNvSpPr/>
          <p:nvPr/>
        </p:nvSpPr>
        <p:spPr>
          <a:xfrm>
            <a:off x="6103620" y="3669030"/>
            <a:ext cx="2606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Expected sign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6103620" y="3943350"/>
            <a:ext cx="2606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β₁  &lt;  0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/>
          <p:nvPr/>
        </p:nvSpPr>
        <p:spPr>
          <a:xfrm>
            <a:off x="548640" y="411480"/>
            <a:ext cx="4114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Section 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548640" y="788670"/>
            <a:ext cx="80466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500"/>
              <a:buFont typeface="Calibri"/>
              <a:buNone/>
            </a:pPr>
            <a:r>
              <a:rPr b="1" i="0" lang="en" sz="4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548640" y="1474470"/>
            <a:ext cx="80466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4500"/>
              <a:buFont typeface="Calibri"/>
              <a:buNone/>
            </a:pPr>
            <a:r>
              <a:rPr b="1" i="0" lang="en" sz="45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and Design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548640" y="2503170"/>
            <a:ext cx="342900" cy="27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548640" y="2606040"/>
            <a:ext cx="4114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Naman Keswani  &amp;  Siya Kumar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6949211" y="685800"/>
            <a:ext cx="1645800" cy="1645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9"/>
          <p:cNvSpPr/>
          <p:nvPr/>
        </p:nvSpPr>
        <p:spPr>
          <a:xfrm>
            <a:off x="7497851" y="2057400"/>
            <a:ext cx="1097400" cy="1097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9"/>
          <p:cNvSpPr/>
          <p:nvPr/>
        </p:nvSpPr>
        <p:spPr>
          <a:xfrm>
            <a:off x="6949211" y="891540"/>
            <a:ext cx="1645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2000"/>
              <a:buFont typeface="Calibri"/>
              <a:buNone/>
            </a:pPr>
            <a:r>
              <a:rPr b="1" i="0" lang="en" sz="120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/>
          <p:nvPr/>
        </p:nvSpPr>
        <p:spPr>
          <a:xfrm>
            <a:off x="411480" y="342900"/>
            <a:ext cx="83208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 Data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0"/>
          <p:cNvSpPr/>
          <p:nvPr/>
        </p:nvSpPr>
        <p:spPr>
          <a:xfrm>
            <a:off x="411480" y="994410"/>
            <a:ext cx="342900" cy="27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44" name="Google Shape;144;p20"/>
          <p:cNvGraphicFramePr/>
          <p:nvPr/>
        </p:nvGraphicFramePr>
        <p:xfrm>
          <a:off x="583042" y="14293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{318DE503-1DA2-4200-8D79-79EA9CA4AF86}</a:tableStyleId>
              </a:tblPr>
              <a:tblGrid>
                <a:gridCol w="1097300"/>
                <a:gridCol w="6880625"/>
              </a:tblGrid>
              <a:tr h="58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63E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600" u="none" cap="none" strike="noStrike">
                          <a:solidFill>
                            <a:srgbClr val="2563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WHO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7150" marB="57150" marR="95250" marL="9525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7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U.S. Metropolitan Statistical Areas (CBSAs), reported by the Census Bureau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7150" marB="57150" marR="95250" marL="9525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63E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600" u="none" cap="none" strike="noStrike">
                          <a:solidFill>
                            <a:srgbClr val="2563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7150" marB="57150" marR="95250" marL="9525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7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FHFA house-price index + Census building permits + A</a:t>
                      </a:r>
                      <a:r>
                        <a:rPr lang="en" sz="170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merican Community Survey I</a:t>
                      </a:r>
                      <a:r>
                        <a:rPr lang="en" sz="17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ncome and population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7150" marB="57150" marR="95250" marL="9525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63E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600" u="none" cap="none" strike="noStrike">
                          <a:solidFill>
                            <a:srgbClr val="2563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7150" marB="57150" marR="95250" marL="9525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7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Annual data, 20</a:t>
                      </a:r>
                      <a:r>
                        <a:rPr lang="en" sz="170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 </a:t>
                      </a:r>
                      <a:r>
                        <a:rPr lang="en" sz="17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 2024 (2020 </a:t>
                      </a:r>
                      <a:r>
                        <a:rPr lang="en" sz="170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was dropped from our dataset)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7150" marB="57150" marR="95250" marL="9525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63E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600" u="none" cap="none" strike="noStrike">
                          <a:solidFill>
                            <a:srgbClr val="2563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WHERE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7150" marB="57150" marR="95250" marL="9525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7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" sz="170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  <a:r>
                        <a:rPr lang="en" sz="17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metros that appeared in all three sources, across every region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7150" marB="57150" marR="95250" marL="9525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63E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600" u="none" cap="none" strike="noStrike">
                          <a:solidFill>
                            <a:srgbClr val="2563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7150" marB="57150" marR="95250" marL="9525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7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Housing is fundamentally local, so a metro-year panel gave us the variation we needed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7150" marB="57150" marR="95250" marL="95250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/>
          <p:nvPr/>
        </p:nvSpPr>
        <p:spPr>
          <a:xfrm>
            <a:off x="411480" y="342900"/>
            <a:ext cx="83208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1"/>
          <p:cNvSpPr/>
          <p:nvPr/>
        </p:nvSpPr>
        <p:spPr>
          <a:xfrm>
            <a:off x="411480" y="994410"/>
            <a:ext cx="342900" cy="27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1"/>
          <p:cNvSpPr/>
          <p:nvPr/>
        </p:nvSpPr>
        <p:spPr>
          <a:xfrm>
            <a:off x="583050" y="1178813"/>
            <a:ext cx="7977900" cy="15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4950" lvl="0" marL="3429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We used the log of the Federal Housing Finance Agency home-price index as our outcome, because raw prices were skewed by expensive coastal metros.</a:t>
            </a:r>
            <a:endParaRPr sz="11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3429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Our main regressor was the log of permits plus one, so that metros reporting zero permits in a year stayed in the sample.</a:t>
            </a:r>
            <a:endParaRPr sz="11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3429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We controlled for income, population, a central-metro indicator, and a dummy for every year to absorb national shocks.</a:t>
            </a:r>
            <a:endParaRPr sz="11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3429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Both sides of the equation were in logs, so each coefficient read as a percent change in prices per percent change in the variable.</a:t>
            </a:r>
            <a:endParaRPr sz="11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loving-intelligent-noether/charts/fig_dist.png" id="153" name="Google Shape;15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7925" y="2868325"/>
            <a:ext cx="7648148" cy="186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/>
          <p:nvPr/>
        </p:nvSpPr>
        <p:spPr>
          <a:xfrm>
            <a:off x="411480" y="342900"/>
            <a:ext cx="83208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Regressors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2"/>
          <p:cNvSpPr/>
          <p:nvPr/>
        </p:nvSpPr>
        <p:spPr>
          <a:xfrm>
            <a:off x="411480" y="994410"/>
            <a:ext cx="342900" cy="27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2"/>
          <p:cNvSpPr/>
          <p:nvPr/>
        </p:nvSpPr>
        <p:spPr>
          <a:xfrm>
            <a:off x="582930" y="1440180"/>
            <a:ext cx="7977900" cy="5829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62" name="Google Shape;162;p22"/>
          <p:cNvSpPr/>
          <p:nvPr/>
        </p:nvSpPr>
        <p:spPr>
          <a:xfrm>
            <a:off x="685800" y="1508760"/>
            <a:ext cx="1577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" sz="13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log Permits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2"/>
          <p:cNvSpPr/>
          <p:nvPr/>
        </p:nvSpPr>
        <p:spPr>
          <a:xfrm>
            <a:off x="685800" y="1755648"/>
            <a:ext cx="1577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1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Supply side.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2"/>
          <p:cNvSpPr/>
          <p:nvPr/>
        </p:nvSpPr>
        <p:spPr>
          <a:xfrm>
            <a:off x="2400300" y="1522476"/>
            <a:ext cx="60234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More units → lower prices.  Expected sign: negative.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/>
          <p:cNvSpPr/>
          <p:nvPr/>
        </p:nvSpPr>
        <p:spPr>
          <a:xfrm>
            <a:off x="582930" y="2077974"/>
            <a:ext cx="7977900" cy="58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66" name="Google Shape;166;p22"/>
          <p:cNvSpPr/>
          <p:nvPr/>
        </p:nvSpPr>
        <p:spPr>
          <a:xfrm>
            <a:off x="685800" y="2146554"/>
            <a:ext cx="1577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" sz="13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log Income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2"/>
          <p:cNvSpPr/>
          <p:nvPr/>
        </p:nvSpPr>
        <p:spPr>
          <a:xfrm>
            <a:off x="685800" y="2393442"/>
            <a:ext cx="1577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1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Demand side.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2"/>
          <p:cNvSpPr/>
          <p:nvPr/>
        </p:nvSpPr>
        <p:spPr>
          <a:xfrm>
            <a:off x="2400300" y="2160270"/>
            <a:ext cx="60234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Higher-income metros can pay more.  Expected sign: positive, large.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2"/>
          <p:cNvSpPr/>
          <p:nvPr/>
        </p:nvSpPr>
        <p:spPr>
          <a:xfrm>
            <a:off x="582930" y="2715768"/>
            <a:ext cx="7977900" cy="5829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70" name="Google Shape;170;p22"/>
          <p:cNvSpPr/>
          <p:nvPr/>
        </p:nvSpPr>
        <p:spPr>
          <a:xfrm>
            <a:off x="685800" y="2784348"/>
            <a:ext cx="1577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" sz="13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log Population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2"/>
          <p:cNvSpPr/>
          <p:nvPr/>
        </p:nvSpPr>
        <p:spPr>
          <a:xfrm>
            <a:off x="685800" y="3031236"/>
            <a:ext cx="1577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1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Market size.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2400300" y="2798064"/>
            <a:ext cx="60234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More buyers competing for stock.  Expected sign: positive.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582930" y="3353562"/>
            <a:ext cx="7977900" cy="58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74" name="Google Shape;174;p22"/>
          <p:cNvSpPr/>
          <p:nvPr/>
        </p:nvSpPr>
        <p:spPr>
          <a:xfrm>
            <a:off x="685800" y="3422142"/>
            <a:ext cx="1577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" sz="13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Metro dummy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2"/>
          <p:cNvSpPr/>
          <p:nvPr/>
        </p:nvSpPr>
        <p:spPr>
          <a:xfrm>
            <a:off x="685800" y="3669030"/>
            <a:ext cx="1577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1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Central vs. outer.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2"/>
          <p:cNvSpPr/>
          <p:nvPr/>
        </p:nvSpPr>
        <p:spPr>
          <a:xfrm>
            <a:off x="2400300" y="3435858"/>
            <a:ext cx="60234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Central metros command a premium.  Expected sign: positive.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2"/>
          <p:cNvSpPr/>
          <p:nvPr/>
        </p:nvSpPr>
        <p:spPr>
          <a:xfrm>
            <a:off x="582930" y="3991356"/>
            <a:ext cx="7977900" cy="5829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78" name="Google Shape;178;p22"/>
          <p:cNvSpPr/>
          <p:nvPr/>
        </p:nvSpPr>
        <p:spPr>
          <a:xfrm>
            <a:off x="685800" y="4059936"/>
            <a:ext cx="1577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" sz="13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Year dummies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2"/>
          <p:cNvSpPr/>
          <p:nvPr/>
        </p:nvSpPr>
        <p:spPr>
          <a:xfrm>
            <a:off x="685800" y="4306824"/>
            <a:ext cx="1577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1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National shocks.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2"/>
          <p:cNvSpPr/>
          <p:nvPr/>
        </p:nvSpPr>
        <p:spPr>
          <a:xfrm>
            <a:off x="2400300" y="4073652"/>
            <a:ext cx="60234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Soaked up mortgage-rate cycles and recessions.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/>
          <p:nvPr/>
        </p:nvSpPr>
        <p:spPr>
          <a:xfrm>
            <a:off x="411480" y="342900"/>
            <a:ext cx="83208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Omitted Variables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3"/>
          <p:cNvSpPr/>
          <p:nvPr/>
        </p:nvSpPr>
        <p:spPr>
          <a:xfrm>
            <a:off x="411480" y="994410"/>
            <a:ext cx="342900" cy="27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3"/>
          <p:cNvSpPr/>
          <p:nvPr/>
        </p:nvSpPr>
        <p:spPr>
          <a:xfrm>
            <a:off x="582930" y="1440180"/>
            <a:ext cx="79779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2540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900"/>
              <a:buFont typeface="Calibri"/>
              <a:buChar char="•"/>
            </a:pPr>
            <a:r>
              <a:rPr b="0" i="0" lang="en" sz="1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Zoning strictness — pushes prices up and permits down, but </a:t>
            </a:r>
            <a:r>
              <a:rPr lang="en" sz="19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uniform</a:t>
            </a:r>
            <a:r>
              <a:rPr lang="en" sz="19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data </a:t>
            </a:r>
            <a:r>
              <a:rPr b="0" i="0" lang="en" sz="1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measure exists.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54000" marR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900"/>
              <a:buFont typeface="Calibri"/>
              <a:buChar char="•"/>
            </a:pPr>
            <a:r>
              <a:rPr b="0" i="0" lang="en" sz="1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Buildable-land share</a:t>
            </a:r>
            <a:r>
              <a:rPr lang="en" sz="19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lang="en" sz="19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cross-sectional data; hard to consider in our research 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54000" marR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900"/>
              <a:buFont typeface="Calibri"/>
              <a:buChar char="•"/>
            </a:pPr>
            <a:r>
              <a:rPr b="0" i="0" lang="en" sz="1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Mortgage rates — move demand year-by-year, absorbed by our year dummies.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54000" marR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900"/>
              <a:buFont typeface="Calibri"/>
              <a:buChar char="•"/>
            </a:pPr>
            <a:r>
              <a:rPr b="0" i="0" lang="en" sz="1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These omissions were exactly the source of bias we had to take seriously.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"/>
          <p:cNvSpPr/>
          <p:nvPr/>
        </p:nvSpPr>
        <p:spPr>
          <a:xfrm>
            <a:off x="548640" y="411480"/>
            <a:ext cx="4114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Section 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4"/>
          <p:cNvSpPr/>
          <p:nvPr/>
        </p:nvSpPr>
        <p:spPr>
          <a:xfrm>
            <a:off x="548640" y="788670"/>
            <a:ext cx="80466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500"/>
              <a:buFont typeface="Calibri"/>
              <a:buNone/>
            </a:pPr>
            <a:r>
              <a:rPr b="1" i="0" lang="en" sz="4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4"/>
          <p:cNvSpPr/>
          <p:nvPr/>
        </p:nvSpPr>
        <p:spPr>
          <a:xfrm>
            <a:off x="548640" y="1474470"/>
            <a:ext cx="80466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4500"/>
              <a:buFont typeface="Calibri"/>
              <a:buNone/>
            </a:pPr>
            <a:r>
              <a:rPr b="1" i="0" lang="en" sz="45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and Execution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4"/>
          <p:cNvSpPr/>
          <p:nvPr/>
        </p:nvSpPr>
        <p:spPr>
          <a:xfrm>
            <a:off x="548640" y="2503170"/>
            <a:ext cx="342900" cy="27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4"/>
          <p:cNvSpPr/>
          <p:nvPr/>
        </p:nvSpPr>
        <p:spPr>
          <a:xfrm>
            <a:off x="548640" y="2606040"/>
            <a:ext cx="4114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Shunji Lewandowski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4"/>
          <p:cNvSpPr/>
          <p:nvPr/>
        </p:nvSpPr>
        <p:spPr>
          <a:xfrm>
            <a:off x="6949211" y="685800"/>
            <a:ext cx="1645800" cy="1645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4"/>
          <p:cNvSpPr/>
          <p:nvPr/>
        </p:nvSpPr>
        <p:spPr>
          <a:xfrm>
            <a:off x="7497851" y="2057400"/>
            <a:ext cx="1097400" cy="1097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4"/>
          <p:cNvSpPr/>
          <p:nvPr/>
        </p:nvSpPr>
        <p:spPr>
          <a:xfrm>
            <a:off x="6949211" y="891540"/>
            <a:ext cx="1645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2000"/>
              <a:buFont typeface="Calibri"/>
              <a:buNone/>
            </a:pPr>
            <a:r>
              <a:rPr b="1" i="0" lang="en" sz="120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/>
          <p:nvPr/>
        </p:nvSpPr>
        <p:spPr>
          <a:xfrm>
            <a:off x="411480" y="342900"/>
            <a:ext cx="83208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Nested Models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5"/>
          <p:cNvSpPr/>
          <p:nvPr/>
        </p:nvSpPr>
        <p:spPr>
          <a:xfrm>
            <a:off x="411480" y="994410"/>
            <a:ext cx="342900" cy="27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5"/>
          <p:cNvSpPr/>
          <p:nvPr/>
        </p:nvSpPr>
        <p:spPr>
          <a:xfrm>
            <a:off x="582930" y="1440180"/>
            <a:ext cx="46635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4000" lvl="0" marL="2540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Model 1 —</a:t>
            </a:r>
            <a:r>
              <a:rPr b="0" i="0" lang="en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permits only</a:t>
            </a:r>
            <a:r>
              <a:rPr b="0" i="0" lang="en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log(Permits) only. </a:t>
            </a:r>
            <a:endParaRPr sz="9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Baseline:</a:t>
            </a:r>
            <a:r>
              <a:rPr lang="en" sz="9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does supply correlate with prices at all?</a:t>
            </a:r>
            <a:endParaRPr sz="9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Model 2 — added metro indicator and year dummies.</a:t>
            </a:r>
            <a:endParaRPr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Add metro dummy + 4 year dummies. </a:t>
            </a:r>
            <a:endParaRPr sz="9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Absorbs national price swings and metro vs micro differences.</a:t>
            </a:r>
            <a:endParaRPr sz="9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Model 3 — added income and population.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All estimated by OLS with robust standard errors.</a:t>
            </a:r>
            <a:endParaRPr b="0" i="0" sz="1400" u="none" cap="none" strike="noStrike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Add log(Income) + log(Population). </a:t>
            </a:r>
            <a:endParaRPr sz="9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Controls for demand — isolates pure supply effect.</a:t>
            </a:r>
            <a:endParaRPr sz="9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5"/>
          <p:cNvSpPr/>
          <p:nvPr/>
        </p:nvSpPr>
        <p:spPr>
          <a:xfrm>
            <a:off x="5417820" y="1440180"/>
            <a:ext cx="3429000" cy="96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5"/>
          <p:cNvSpPr/>
          <p:nvPr/>
        </p:nvSpPr>
        <p:spPr>
          <a:xfrm>
            <a:off x="5554980" y="1543050"/>
            <a:ext cx="3154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Model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5"/>
          <p:cNvSpPr/>
          <p:nvPr/>
        </p:nvSpPr>
        <p:spPr>
          <a:xfrm>
            <a:off x="5554980" y="1817370"/>
            <a:ext cx="3154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log(HPI) = β₀ + β₁·log(Perm) + ε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5"/>
          <p:cNvSpPr/>
          <p:nvPr/>
        </p:nvSpPr>
        <p:spPr>
          <a:xfrm>
            <a:off x="5417820" y="2537460"/>
            <a:ext cx="3429000" cy="96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5"/>
          <p:cNvSpPr/>
          <p:nvPr/>
        </p:nvSpPr>
        <p:spPr>
          <a:xfrm>
            <a:off x="5554980" y="2640330"/>
            <a:ext cx="3154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Model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5"/>
          <p:cNvSpPr/>
          <p:nvPr/>
        </p:nvSpPr>
        <p:spPr>
          <a:xfrm>
            <a:off x="5554980" y="2914650"/>
            <a:ext cx="3154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… + γ·Metro + Σ δₜ·Yearₜ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5"/>
          <p:cNvSpPr/>
          <p:nvPr/>
        </p:nvSpPr>
        <p:spPr>
          <a:xfrm>
            <a:off x="5417820" y="3634740"/>
            <a:ext cx="3429000" cy="96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5"/>
          <p:cNvSpPr/>
          <p:nvPr/>
        </p:nvSpPr>
        <p:spPr>
          <a:xfrm>
            <a:off x="5554980" y="3737610"/>
            <a:ext cx="3154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5"/>
          <p:cNvSpPr/>
          <p:nvPr/>
        </p:nvSpPr>
        <p:spPr>
          <a:xfrm>
            <a:off x="5554980" y="4011930"/>
            <a:ext cx="3154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… + λ·</a:t>
            </a: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log(</a:t>
            </a: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Inc) + μ·</a:t>
            </a: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log(</a:t>
            </a: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Pop)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/>
          <p:cNvSpPr/>
          <p:nvPr/>
        </p:nvSpPr>
        <p:spPr>
          <a:xfrm>
            <a:off x="411480" y="342900"/>
            <a:ext cx="83208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Diagnostics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6"/>
          <p:cNvSpPr/>
          <p:nvPr/>
        </p:nvSpPr>
        <p:spPr>
          <a:xfrm>
            <a:off x="411480" y="994410"/>
            <a:ext cx="342900" cy="27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6"/>
          <p:cNvSpPr/>
          <p:nvPr/>
        </p:nvSpPr>
        <p:spPr>
          <a:xfrm>
            <a:off x="582930" y="1440180"/>
            <a:ext cx="38406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0350" lvl="0" marL="2540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Breusch–Pagan and White tests (Heteroskedasticity)</a:t>
            </a:r>
            <a:endParaRPr sz="13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1" marL="6858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○"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rejected constant variance → we reported robust SEs.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Residuals scattered evenly around zero — log–log was well specified.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lang="en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F-Test (Joint Significance) - </a:t>
            </a: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Year dummies were jointly significant.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All VIFs below 5 </a:t>
            </a: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no multicollinearity</a:t>
            </a:r>
            <a:r>
              <a:rPr lang="en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between income and population</a:t>
            </a:r>
            <a:endParaRPr sz="13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1" marL="6858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○"/>
            </a:pPr>
            <a:r>
              <a:rPr lang="en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Rule of thumb: VIF &gt; 10 = problematic multicollinearity Our Max VIF = 4.34 → OK</a:t>
            </a:r>
            <a:endParaRPr sz="13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loving-intelligent-noether/charts/fig_residuals.png" id="227" name="Google Shape;22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7700" y="1371600"/>
            <a:ext cx="4457701" cy="29489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/>
          <p:nvPr/>
        </p:nvSpPr>
        <p:spPr>
          <a:xfrm>
            <a:off x="548640" y="411480"/>
            <a:ext cx="4114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Section 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7"/>
          <p:cNvSpPr/>
          <p:nvPr/>
        </p:nvSpPr>
        <p:spPr>
          <a:xfrm>
            <a:off x="548640" y="788670"/>
            <a:ext cx="80466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500"/>
              <a:buFont typeface="Calibri"/>
              <a:buNone/>
            </a:pPr>
            <a:r>
              <a:rPr b="1" i="0" lang="en" sz="4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Interpretation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7"/>
          <p:cNvSpPr/>
          <p:nvPr/>
        </p:nvSpPr>
        <p:spPr>
          <a:xfrm>
            <a:off x="548640" y="1474470"/>
            <a:ext cx="80466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4500"/>
              <a:buFont typeface="Calibri"/>
              <a:buNone/>
            </a:pPr>
            <a:r>
              <a:rPr b="1" i="0" lang="en" sz="45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and Insight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7"/>
          <p:cNvSpPr/>
          <p:nvPr/>
        </p:nvSpPr>
        <p:spPr>
          <a:xfrm>
            <a:off x="548640" y="2503170"/>
            <a:ext cx="342900" cy="27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7"/>
          <p:cNvSpPr/>
          <p:nvPr/>
        </p:nvSpPr>
        <p:spPr>
          <a:xfrm>
            <a:off x="548640" y="2606040"/>
            <a:ext cx="4114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Ania 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7"/>
          <p:cNvSpPr/>
          <p:nvPr/>
        </p:nvSpPr>
        <p:spPr>
          <a:xfrm>
            <a:off x="6949211" y="685800"/>
            <a:ext cx="1645800" cy="1645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7"/>
          <p:cNvSpPr/>
          <p:nvPr/>
        </p:nvSpPr>
        <p:spPr>
          <a:xfrm>
            <a:off x="7497851" y="2057400"/>
            <a:ext cx="1097400" cy="1097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7"/>
          <p:cNvSpPr/>
          <p:nvPr/>
        </p:nvSpPr>
        <p:spPr>
          <a:xfrm>
            <a:off x="6949211" y="891540"/>
            <a:ext cx="1645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2000"/>
              <a:buFont typeface="Calibri"/>
              <a:buNone/>
            </a:pPr>
            <a:r>
              <a:rPr b="1" i="0" lang="en" sz="120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8"/>
          <p:cNvSpPr/>
          <p:nvPr/>
        </p:nvSpPr>
        <p:spPr>
          <a:xfrm>
            <a:off x="411480" y="342900"/>
            <a:ext cx="83208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8"/>
          <p:cNvSpPr/>
          <p:nvPr/>
        </p:nvSpPr>
        <p:spPr>
          <a:xfrm>
            <a:off x="411480" y="994410"/>
            <a:ext cx="342900" cy="27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48" name="Google Shape;248;p28"/>
          <p:cNvGraphicFramePr/>
          <p:nvPr/>
        </p:nvGraphicFramePr>
        <p:xfrm>
          <a:off x="582930" y="13373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{318DE503-1DA2-4200-8D79-79EA9CA4AF86}</a:tableStyleId>
              </a:tblPr>
              <a:tblGrid>
                <a:gridCol w="2194550"/>
                <a:gridCol w="1858525"/>
                <a:gridCol w="1858525"/>
                <a:gridCol w="2064275"/>
              </a:tblGrid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Regressor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 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 2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 3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 Permits  (β₁)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+0.1</a:t>
                      </a:r>
                      <a:r>
                        <a:rPr lang="en" sz="900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494</a:t>
                      </a:r>
                      <a:r>
                        <a:rPr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***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(0.0056)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</a:t>
                      </a:r>
                      <a:r>
                        <a:rPr lang="en" sz="900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1448</a:t>
                      </a:r>
                      <a:r>
                        <a:rPr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***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(0.00</a:t>
                      </a:r>
                      <a:r>
                        <a:rPr lang="en" sz="900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</a:t>
                      </a:r>
                      <a:r>
                        <a:rPr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</a:t>
                      </a:r>
                      <a:r>
                        <a:rPr b="1" lang="en" sz="900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0809*</a:t>
                      </a:r>
                      <a:r>
                        <a:rPr b="1"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**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(0.00</a:t>
                      </a:r>
                      <a:r>
                        <a:rPr b="1" lang="en" sz="900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84)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 Income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+1.</a:t>
                      </a:r>
                      <a:r>
                        <a:rPr lang="en" sz="900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5609</a:t>
                      </a:r>
                      <a:r>
                        <a:rPr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***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(0.0</a:t>
                      </a:r>
                      <a:r>
                        <a:rPr lang="en" sz="900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472</a:t>
                      </a:r>
                      <a:r>
                        <a:rPr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 Population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+0.02</a:t>
                      </a:r>
                      <a:r>
                        <a:rPr lang="en" sz="900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79</a:t>
                      </a:r>
                      <a:r>
                        <a:rPr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***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(0.</a:t>
                      </a:r>
                      <a:r>
                        <a:rPr lang="en" sz="900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0121</a:t>
                      </a:r>
                      <a:r>
                        <a:rPr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Metro dummy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+0.2365***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(0.0124)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+0.1186***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(0.0114)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 fixed effects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Constant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+5.6172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(0.0128)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+5.3390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(0.0195)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</a:t>
                      </a:r>
                      <a:r>
                        <a:rPr lang="en" sz="900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r>
                        <a:rPr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r>
                        <a:rPr lang="en" sz="900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1421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(0.2544)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R²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r>
                        <a:rPr b="1" lang="en" sz="900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r>
                        <a:rPr b="1" lang="en" sz="900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r>
                        <a:rPr b="1" lang="en" sz="900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557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AFE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Observations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2036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2036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2036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9" name="Google Shape;249;p28"/>
          <p:cNvSpPr/>
          <p:nvPr/>
        </p:nvSpPr>
        <p:spPr>
          <a:xfrm>
            <a:off x="582930" y="4732020"/>
            <a:ext cx="7977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1" i="1" lang="en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Robust SEs in parentheses.  ***p&lt;0.01.   β₁ shrank from +0.12 to +0.04 — but never turned negative.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9"/>
          <p:cNvSpPr/>
          <p:nvPr/>
        </p:nvSpPr>
        <p:spPr>
          <a:xfrm>
            <a:off x="411480" y="342900"/>
            <a:ext cx="83208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OVB Shrinkage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9"/>
          <p:cNvSpPr/>
          <p:nvPr/>
        </p:nvSpPr>
        <p:spPr>
          <a:xfrm>
            <a:off x="411480" y="994410"/>
            <a:ext cx="342900" cy="27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9"/>
          <p:cNvSpPr/>
          <p:nvPr/>
        </p:nvSpPr>
        <p:spPr>
          <a:xfrm>
            <a:off x="582930" y="1440180"/>
            <a:ext cx="38406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0350" lvl="0" marL="2540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β₁ dropped from +0.1</a:t>
            </a:r>
            <a:r>
              <a:rPr lang="en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to +0.</a:t>
            </a:r>
            <a:r>
              <a:rPr lang="en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once income entered.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Income's own coefficient was +1.</a:t>
            </a:r>
            <a:r>
              <a:rPr lang="en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56</a:t>
            </a: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— demand was doing the work.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OLS had labeled a demand correlation as a supply effect.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loving-intelligent-noether/charts/fig_ovb.png" id="258" name="Google Shape;25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7700" y="1371600"/>
            <a:ext cx="4457699" cy="3154681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9"/>
          <p:cNvSpPr/>
          <p:nvPr/>
        </p:nvSpPr>
        <p:spPr>
          <a:xfrm>
            <a:off x="411480" y="4629150"/>
            <a:ext cx="8320800" cy="3771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9"/>
          <p:cNvSpPr/>
          <p:nvPr/>
        </p:nvSpPr>
        <p:spPr>
          <a:xfrm>
            <a:off x="548640" y="4642866"/>
            <a:ext cx="80466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β₁ fell from +0.</a:t>
            </a:r>
            <a:r>
              <a:rPr b="1" lang="en" sz="11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149</a:t>
            </a:r>
            <a:r>
              <a:rPr b="1" i="0" lang="en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 to +0.0</a:t>
            </a:r>
            <a:r>
              <a:rPr b="1" lang="en" sz="11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81</a:t>
            </a:r>
            <a:r>
              <a:rPr b="1" i="0" lang="en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  —  roughly </a:t>
            </a:r>
            <a:r>
              <a:rPr b="1" lang="en" sz="11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46</a:t>
            </a:r>
            <a:r>
              <a:rPr b="1" i="0" lang="en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% of the initial estimate was demand, not supply.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0"/>
          <p:cNvSpPr/>
          <p:nvPr/>
        </p:nvSpPr>
        <p:spPr>
          <a:xfrm>
            <a:off x="411480" y="342900"/>
            <a:ext cx="83208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Robustness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0"/>
          <p:cNvSpPr/>
          <p:nvPr/>
        </p:nvSpPr>
        <p:spPr>
          <a:xfrm>
            <a:off x="411480" y="994410"/>
            <a:ext cx="342900" cy="27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0"/>
          <p:cNvSpPr/>
          <p:nvPr/>
        </p:nvSpPr>
        <p:spPr>
          <a:xfrm>
            <a:off x="731405" y="1400855"/>
            <a:ext cx="38406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0350" lvl="0" marL="2540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Dropping zero-permit metros → β₁ = +0.0</a:t>
            </a:r>
            <a:r>
              <a:rPr lang="en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82</a:t>
            </a: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Trimming extreme permit values → β₁ = +0.0</a:t>
            </a:r>
            <a:r>
              <a:rPr lang="en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74</a:t>
            </a: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Using yearly price change instead → β₁ = +0.</a:t>
            </a:r>
            <a:r>
              <a:rPr lang="en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827</a:t>
            </a: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(same sign).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Sign and significance held everywhere.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0"/>
          <p:cNvSpPr/>
          <p:nvPr/>
        </p:nvSpPr>
        <p:spPr>
          <a:xfrm>
            <a:off x="411480" y="4629150"/>
            <a:ext cx="8320800" cy="3771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0"/>
          <p:cNvSpPr/>
          <p:nvPr/>
        </p:nvSpPr>
        <p:spPr>
          <a:xfrm>
            <a:off x="548640" y="4642866"/>
            <a:ext cx="80466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1" i="1" lang="en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The estimate was stable — no specification rescued a negative sign.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1"/>
          <p:cNvSpPr/>
          <p:nvPr/>
        </p:nvSpPr>
        <p:spPr>
          <a:xfrm>
            <a:off x="411480" y="342900"/>
            <a:ext cx="83208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Reverse Causality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1"/>
          <p:cNvSpPr/>
          <p:nvPr/>
        </p:nvSpPr>
        <p:spPr>
          <a:xfrm>
            <a:off x="411480" y="994410"/>
            <a:ext cx="342900" cy="27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1"/>
          <p:cNvSpPr/>
          <p:nvPr/>
        </p:nvSpPr>
        <p:spPr>
          <a:xfrm>
            <a:off x="582930" y="1440180"/>
            <a:ext cx="79779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0" marL="2540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Calibri"/>
              <a:buChar char="•"/>
            </a:pPr>
            <a:r>
              <a:rPr b="0" i="0" lang="en" sz="16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Developers build where prices are highest — so permits respond to prices, not the other way around.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254000" marR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Calibri"/>
              <a:buChar char="•"/>
            </a:pPr>
            <a:r>
              <a:rPr b="0" i="0" lang="en" sz="16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Income's +1.</a:t>
            </a:r>
            <a:r>
              <a:rPr lang="en" sz="16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56</a:t>
            </a:r>
            <a:r>
              <a:rPr b="0" i="0" lang="en" sz="16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coefficient confirmed demand was the dominant force.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254000" marR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Calibri"/>
              <a:buChar char="•"/>
            </a:pPr>
            <a:r>
              <a:rPr b="0" i="0" lang="en" sz="16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Without an instrument, OLS can't separate supply from demand.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254000" marR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Calibri"/>
              <a:buChar char="•"/>
            </a:pPr>
            <a:r>
              <a:rPr b="0" i="0" lang="en" sz="16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Saiz's buildable-land share is a credible instrument for future work.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1"/>
          <p:cNvSpPr/>
          <p:nvPr/>
        </p:nvSpPr>
        <p:spPr>
          <a:xfrm>
            <a:off x="582930" y="4732020"/>
            <a:ext cx="7977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1" lang="en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Our β₁ ≈ +0.0</a:t>
            </a:r>
            <a:r>
              <a:rPr b="1" i="1" lang="en" sz="11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81</a:t>
            </a:r>
            <a:r>
              <a:rPr b="1" i="1" lang="en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  →  a correlation, not a causal supply effect.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2"/>
          <p:cNvSpPr/>
          <p:nvPr/>
        </p:nvSpPr>
        <p:spPr>
          <a:xfrm>
            <a:off x="411480" y="342900"/>
            <a:ext cx="83208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2"/>
          <p:cNvSpPr/>
          <p:nvPr/>
        </p:nvSpPr>
        <p:spPr>
          <a:xfrm>
            <a:off x="411480" y="994410"/>
            <a:ext cx="342900" cy="27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2"/>
          <p:cNvSpPr/>
          <p:nvPr/>
        </p:nvSpPr>
        <p:spPr>
          <a:xfrm>
            <a:off x="582930" y="1440180"/>
            <a:ext cx="7977900" cy="7887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88" name="Google Shape;288;p32"/>
          <p:cNvSpPr/>
          <p:nvPr/>
        </p:nvSpPr>
        <p:spPr>
          <a:xfrm>
            <a:off x="720090" y="1577340"/>
            <a:ext cx="150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" sz="12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Approach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2"/>
          <p:cNvSpPr/>
          <p:nvPr/>
        </p:nvSpPr>
        <p:spPr>
          <a:xfrm>
            <a:off x="2366010" y="1577340"/>
            <a:ext cx="61950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5-</a:t>
            </a: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-year panel of 5</a:t>
            </a:r>
            <a:r>
              <a:rPr lang="en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U.S. metros, three nested OLS models with robust SEs.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2"/>
          <p:cNvSpPr/>
          <p:nvPr/>
        </p:nvSpPr>
        <p:spPr>
          <a:xfrm>
            <a:off x="582930" y="2276856"/>
            <a:ext cx="7977900" cy="78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91" name="Google Shape;291;p32"/>
          <p:cNvSpPr/>
          <p:nvPr/>
        </p:nvSpPr>
        <p:spPr>
          <a:xfrm>
            <a:off x="720090" y="2414016"/>
            <a:ext cx="150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" sz="12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Findings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2"/>
          <p:cNvSpPr/>
          <p:nvPr/>
        </p:nvSpPr>
        <p:spPr>
          <a:xfrm>
            <a:off x="2366010" y="2414016"/>
            <a:ext cx="61950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β₁ stayed positive in every spec — +0.1</a:t>
            </a:r>
            <a:r>
              <a:rPr lang="en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→ +0.0</a:t>
            </a:r>
            <a:r>
              <a:rPr lang="en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after controls — never negative.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2"/>
          <p:cNvSpPr/>
          <p:nvPr/>
        </p:nvSpPr>
        <p:spPr>
          <a:xfrm>
            <a:off x="582930" y="3113532"/>
            <a:ext cx="7977900" cy="7887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94" name="Google Shape;294;p32"/>
          <p:cNvSpPr/>
          <p:nvPr/>
        </p:nvSpPr>
        <p:spPr>
          <a:xfrm>
            <a:off x="720090" y="3250692"/>
            <a:ext cx="150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" sz="12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Caveats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2"/>
          <p:cNvSpPr/>
          <p:nvPr/>
        </p:nvSpPr>
        <p:spPr>
          <a:xfrm>
            <a:off x="2366010" y="3250692"/>
            <a:ext cx="61950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OLS couldn't separate supply from demand; zoning and buildable land were unobservable.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2"/>
          <p:cNvSpPr/>
          <p:nvPr/>
        </p:nvSpPr>
        <p:spPr>
          <a:xfrm>
            <a:off x="582930" y="3950208"/>
            <a:ext cx="7977900" cy="78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97" name="Google Shape;297;p32"/>
          <p:cNvSpPr/>
          <p:nvPr/>
        </p:nvSpPr>
        <p:spPr>
          <a:xfrm>
            <a:off x="720090" y="4087368"/>
            <a:ext cx="150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" sz="12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2"/>
          <p:cNvSpPr/>
          <p:nvPr/>
        </p:nvSpPr>
        <p:spPr>
          <a:xfrm>
            <a:off x="2366010" y="4087368"/>
            <a:ext cx="61950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Instrument permits with geographic or regulatory constraints (Saiz; Glaeser–Gyourko).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3"/>
          <p:cNvSpPr/>
          <p:nvPr/>
        </p:nvSpPr>
        <p:spPr>
          <a:xfrm>
            <a:off x="411480" y="342900"/>
            <a:ext cx="83208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3"/>
          <p:cNvSpPr/>
          <p:nvPr/>
        </p:nvSpPr>
        <p:spPr>
          <a:xfrm>
            <a:off x="411480" y="994410"/>
            <a:ext cx="342900" cy="27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3"/>
          <p:cNvSpPr/>
          <p:nvPr/>
        </p:nvSpPr>
        <p:spPr>
          <a:xfrm>
            <a:off x="582930" y="1371600"/>
            <a:ext cx="7977900" cy="397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3"/>
          <p:cNvSpPr/>
          <p:nvPr/>
        </p:nvSpPr>
        <p:spPr>
          <a:xfrm>
            <a:off x="720090" y="1453896"/>
            <a:ext cx="96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3"/>
          <p:cNvSpPr/>
          <p:nvPr/>
        </p:nvSpPr>
        <p:spPr>
          <a:xfrm>
            <a:off x="1748790" y="1453896"/>
            <a:ext cx="66750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FHFA. All-Transactions House Price Index at the CBSA level, 201</a:t>
            </a:r>
            <a:r>
              <a:rPr lang="en" sz="1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–2024.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3"/>
          <p:cNvSpPr/>
          <p:nvPr/>
        </p:nvSpPr>
        <p:spPr>
          <a:xfrm>
            <a:off x="582930" y="1789938"/>
            <a:ext cx="7977900" cy="39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3"/>
          <p:cNvSpPr/>
          <p:nvPr/>
        </p:nvSpPr>
        <p:spPr>
          <a:xfrm>
            <a:off x="720090" y="1872234"/>
            <a:ext cx="96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3"/>
          <p:cNvSpPr/>
          <p:nvPr/>
        </p:nvSpPr>
        <p:spPr>
          <a:xfrm>
            <a:off x="1748790" y="1872234"/>
            <a:ext cx="66750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U.S. Census Bureau. Building Permits Survey, CBSA monthly file (January 2026 release).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3"/>
          <p:cNvSpPr/>
          <p:nvPr/>
        </p:nvSpPr>
        <p:spPr>
          <a:xfrm>
            <a:off x="582930" y="2208276"/>
            <a:ext cx="7977900" cy="397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3"/>
          <p:cNvSpPr/>
          <p:nvPr/>
        </p:nvSpPr>
        <p:spPr>
          <a:xfrm>
            <a:off x="720090" y="2290572"/>
            <a:ext cx="96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3"/>
          <p:cNvSpPr/>
          <p:nvPr/>
        </p:nvSpPr>
        <p:spPr>
          <a:xfrm>
            <a:off x="1748790" y="2290572"/>
            <a:ext cx="66750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U.S. Census Bureau. American Community Survey 1-Year tables B19013, B25001, B01003, 201</a:t>
            </a:r>
            <a:r>
              <a:rPr lang="en" sz="1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–2024.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3"/>
          <p:cNvSpPr/>
          <p:nvPr/>
        </p:nvSpPr>
        <p:spPr>
          <a:xfrm>
            <a:off x="582930" y="2626614"/>
            <a:ext cx="7977900" cy="39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3"/>
          <p:cNvSpPr/>
          <p:nvPr/>
        </p:nvSpPr>
        <p:spPr>
          <a:xfrm>
            <a:off x="720090" y="2708910"/>
            <a:ext cx="96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3"/>
          <p:cNvSpPr/>
          <p:nvPr/>
        </p:nvSpPr>
        <p:spPr>
          <a:xfrm>
            <a:off x="1748790" y="2708910"/>
            <a:ext cx="66750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U.S. Department of Housing and Urban Development. 2024 Annual Homeless Assessment Report to Congress.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3"/>
          <p:cNvSpPr/>
          <p:nvPr/>
        </p:nvSpPr>
        <p:spPr>
          <a:xfrm>
            <a:off x="582930" y="3044952"/>
            <a:ext cx="7977900" cy="397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3"/>
          <p:cNvSpPr/>
          <p:nvPr/>
        </p:nvSpPr>
        <p:spPr>
          <a:xfrm>
            <a:off x="720090" y="3127248"/>
            <a:ext cx="96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Academic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3"/>
          <p:cNvSpPr/>
          <p:nvPr/>
        </p:nvSpPr>
        <p:spPr>
          <a:xfrm>
            <a:off x="1748790" y="3127248"/>
            <a:ext cx="66750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Glaeser, E., Gyourko, J., &amp; Saks, R. (2005). Why is Manhattan so Expensive? Regulation and the Rise in Housing Prices. Journal of Law and Economics, 48(2).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3"/>
          <p:cNvSpPr/>
          <p:nvPr/>
        </p:nvSpPr>
        <p:spPr>
          <a:xfrm>
            <a:off x="582930" y="3463290"/>
            <a:ext cx="7977900" cy="39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3"/>
          <p:cNvSpPr/>
          <p:nvPr/>
        </p:nvSpPr>
        <p:spPr>
          <a:xfrm>
            <a:off x="720090" y="3545586"/>
            <a:ext cx="96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Academic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3"/>
          <p:cNvSpPr/>
          <p:nvPr/>
        </p:nvSpPr>
        <p:spPr>
          <a:xfrm>
            <a:off x="1748790" y="3545586"/>
            <a:ext cx="66750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Saiz, A. (2010). The Geographic Determinants of Housing Supply. Quarterly Journal of Economics, 125(3).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3"/>
          <p:cNvSpPr/>
          <p:nvPr/>
        </p:nvSpPr>
        <p:spPr>
          <a:xfrm>
            <a:off x="582930" y="3881628"/>
            <a:ext cx="7977900" cy="397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3"/>
          <p:cNvSpPr/>
          <p:nvPr/>
        </p:nvSpPr>
        <p:spPr>
          <a:xfrm>
            <a:off x="720090" y="3963924"/>
            <a:ext cx="96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Academic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3"/>
          <p:cNvSpPr/>
          <p:nvPr/>
        </p:nvSpPr>
        <p:spPr>
          <a:xfrm>
            <a:off x="1748790" y="3963924"/>
            <a:ext cx="66750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Joint Center for Housing Studies of Harvard University. The State of the Nation's Housing (2024).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3"/>
          <p:cNvSpPr/>
          <p:nvPr/>
        </p:nvSpPr>
        <p:spPr>
          <a:xfrm>
            <a:off x="582930" y="4299966"/>
            <a:ext cx="7977900" cy="39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3"/>
          <p:cNvSpPr/>
          <p:nvPr/>
        </p:nvSpPr>
        <p:spPr>
          <a:xfrm>
            <a:off x="720090" y="4382262"/>
            <a:ext cx="96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Textbook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3"/>
          <p:cNvSpPr/>
          <p:nvPr/>
        </p:nvSpPr>
        <p:spPr>
          <a:xfrm>
            <a:off x="1748790" y="4382262"/>
            <a:ext cx="66750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Wooldridge, J. M. (2019). Introductory Econometrics: A Modern Approach, 7th ed. Cengage.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